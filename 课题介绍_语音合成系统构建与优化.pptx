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822960" cy="128016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3B5B1"/>
                </a:solidFill>
                <a:latin typeface="微软雅黑" panose="020B0503020204020204" charset="-122"/>
                <a:ea typeface="微软雅黑" panose="020B0503020204020204" charset="-122"/>
              </a:rPr>
              <a:t>智能语音应用与实践课题</a:t>
            </a:r>
            <a:endParaRPr sz="1300" b="1">
              <a:solidFill>
                <a:srgbClr val="13B5B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749039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语音合成系统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构建与优化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</a:rPr>
              <a:t>基线模型  Qwen3-TTS</a:t>
            </a:r>
            <a:endParaRPr sz="140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</a:rPr>
              <a:t>个性化语音合成 · 端到端离散 token + LM</a:t>
            </a:r>
            <a:endParaRPr sz="140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FB4D1"/>
                </a:solidFill>
                <a:latin typeface="微软雅黑" panose="020B0503020204020204" charset="-122"/>
                <a:ea typeface="微软雅黑" panose="020B0503020204020204" charset="-122"/>
              </a:rPr>
              <a:t>讯飞 × 中科大 AI 英才班暑期实训营</a:t>
            </a:r>
            <a:endParaRPr sz="1200" b="0">
              <a:solidFill>
                <a:srgbClr val="9FB4D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0" y="82296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课题定位</a:t>
            </a:r>
            <a:endParaRPr sz="15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03520" y="1234440"/>
            <a:ext cx="6492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用自己录制的少量语音，复现并微调出「你自己的声音」，</a:t>
            </a:r>
            <a:endParaRPr sz="15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走通个性化 TTS 从工程到优化的完整闭环。</a:t>
            </a:r>
            <a:endParaRPr sz="15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303520" y="2514600"/>
            <a:ext cx="6400800" cy="105156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0" y="2514600"/>
            <a:ext cx="118872" cy="105156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77840" y="2788920"/>
            <a:ext cx="502920" cy="502920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63640" y="2660904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工程复现</a:t>
            </a:r>
            <a:endParaRPr sz="16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63640" y="3026664"/>
            <a:ext cx="5257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跑通 Qwen3-TTS 全链路：下载→零样本推理→数据采集→SFT 微调→推理，产出可运行工程</a:t>
            </a:r>
            <a:endParaRPr sz="11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303520" y="3767328"/>
            <a:ext cx="6400800" cy="105156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3767328"/>
            <a:ext cx="118872" cy="1051560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77840" y="4041648"/>
            <a:ext cx="502920" cy="502920"/>
          </a:xfrm>
          <a:prstGeom prst="ellipse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63640" y="3913632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理论理解</a:t>
            </a:r>
            <a:endParaRPr sz="16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63640" y="4279392"/>
            <a:ext cx="5257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掌握 12Hz Tokenizer、多码本 Talker、Dual-Track 流式与音色克隆，理解端到端范式优势</a:t>
            </a:r>
            <a:endParaRPr sz="11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303520" y="5020056"/>
            <a:ext cx="6400800" cy="105156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0" y="5020056"/>
            <a:ext cx="118872" cy="105156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77840" y="5294376"/>
            <a:ext cx="502920" cy="50292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63640" y="51663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算法优化</a:t>
            </a:r>
            <a:endParaRPr sz="16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63640" y="5532120"/>
            <a:ext cx="5257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提出 ≥1 项改进并做消融实验，稳定提升 SIM / CER / MOS，或给出靠谱的实验分析</a:t>
            </a:r>
            <a:endParaRPr sz="11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100584" cy="658368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BASELINE ARCHITECTURE</a:t>
            </a:r>
            <a:endParaRPr sz="12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76656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Qwen3-TTS 技术架构</a:t>
            </a:r>
            <a:endParaRPr sz="26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98480" y="4572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02 / 07</a:t>
            </a:r>
            <a:endParaRPr sz="1200" b="1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1298448"/>
            <a:ext cx="10744200" cy="9525"/>
          </a:xfrm>
          <a:prstGeom prst="rect">
            <a:avLst/>
          </a:prstGeom>
          <a:solidFill>
            <a:srgbClr val="D5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统一端到端建模：文本直接生成语音离散 token，规避传统级联的信息瓶颈与误差累积</a:t>
            </a:r>
            <a:endParaRPr sz="13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2057400"/>
            <a:ext cx="5230368" cy="146304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057400"/>
            <a:ext cx="118872" cy="146304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331720"/>
            <a:ext cx="566928" cy="566928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83080" y="2295144"/>
            <a:ext cx="40416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12Hz 语音离散化 Tokenizer</a:t>
            </a:r>
            <a:endParaRPr sz="15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83080" y="2770632"/>
            <a:ext cx="404164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连续语音 → 离散码本 token</a:t>
            </a:r>
            <a:endParaRPr sz="11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（12Hz 低帧率，高压缩比）</a:t>
            </a:r>
            <a:endParaRPr sz="11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36208" y="2057400"/>
            <a:ext cx="5230368" cy="146304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2057400"/>
            <a:ext cx="118872" cy="1463040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28816" y="2331720"/>
            <a:ext cx="566928" cy="566928"/>
          </a:xfrm>
          <a:prstGeom prst="ellipse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87768" y="2295144"/>
            <a:ext cx="40416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离散多码本语言模型 Talker</a:t>
            </a:r>
            <a:endParaRPr sz="15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87768" y="2770632"/>
            <a:ext cx="404164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文本 → 语音 token 序列</a:t>
            </a:r>
            <a:endParaRPr sz="11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自回归直接建模，无需声学谱中介</a:t>
            </a:r>
            <a:endParaRPr sz="11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1520" y="3776472"/>
            <a:ext cx="5230368" cy="146304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776472"/>
            <a:ext cx="118872" cy="14630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4128" y="4050792"/>
            <a:ext cx="566928" cy="56692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83080" y="4014216"/>
            <a:ext cx="40416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Dual-Track 流式合成</a:t>
            </a:r>
            <a:endParaRPr sz="15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83080" y="4489704"/>
            <a:ext cx="404164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语义 token + 声学 token 双轨并行</a:t>
            </a:r>
            <a:endParaRPr sz="11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支持低延迟流式生成</a:t>
            </a:r>
            <a:endParaRPr sz="11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236208" y="3776472"/>
            <a:ext cx="5230368" cy="146304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3776472"/>
            <a:ext cx="118872" cy="1463040"/>
          </a:xfrm>
          <a:prstGeom prst="rect">
            <a:avLst/>
          </a:prstGeom>
          <a:solidFill>
            <a:srgbClr val="7A5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28816" y="4050792"/>
            <a:ext cx="566928" cy="566928"/>
          </a:xfrm>
          <a:prstGeom prst="ellipse">
            <a:avLst/>
          </a:prstGeom>
          <a:solidFill>
            <a:srgbClr val="7A5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287768" y="4014216"/>
            <a:ext cx="40416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说话人 embedding 音色克隆</a:t>
            </a:r>
            <a:endParaRPr sz="15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287768" y="4489704"/>
            <a:ext cx="404164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3 秒参考音频即可零样本复刻</a:t>
            </a:r>
            <a:endParaRPr sz="11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注入说话人身份控制音色</a:t>
            </a:r>
            <a:endParaRPr sz="11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31520" y="5623560"/>
            <a:ext cx="10744200" cy="841248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751576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3B5B1"/>
                </a:solidFill>
                <a:latin typeface="微软雅黑" panose="020B0503020204020204" charset="-122"/>
                <a:ea typeface="微软雅黑" panose="020B0503020204020204" charset="-122"/>
              </a:rPr>
              <a:t>对比传统级联  </a:t>
            </a: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Tacotron + HiFiGAN：声学模型→声码器两段式，中间表征（mel 谱）成为信息瓶颈，误差逐级累积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8C28"/>
                </a:solidFill>
                <a:latin typeface="微软雅黑" panose="020B0503020204020204" charset="-122"/>
                <a:ea typeface="微软雅黑" panose="020B0503020204020204" charset="-122"/>
              </a:rPr>
              <a:t>Qwen3-TTS  </a:t>
            </a: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统一端到端，文本直达语音 token，信息不丢、误差不累积，音色与韵律更自然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100584" cy="658368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WORKFLOW</a:t>
            </a:r>
            <a:endParaRPr sz="12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76656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任务全链路</a:t>
            </a:r>
            <a:endParaRPr sz="26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98480" y="4572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03 / 07</a:t>
            </a:r>
            <a:endParaRPr sz="1200" b="1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1298448"/>
            <a:ext cx="10744200" cy="9525"/>
          </a:xfrm>
          <a:prstGeom prst="rect">
            <a:avLst/>
          </a:prstGeom>
          <a:solidFill>
            <a:srgbClr val="D5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1965960" cy="246888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1965960" cy="128016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30452" y="2542032"/>
            <a:ext cx="768096" cy="768096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1248" y="3429000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环境搭建</a:t>
            </a:r>
            <a:endParaRPr sz="14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9536" y="3886200"/>
            <a:ext cx="170992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Python 3.12 + PyTorch ≥2.1</a:t>
            </a:r>
            <a:endParaRPr sz="10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CUDA 12.x · pip install qwen-tts</a:t>
            </a:r>
            <a:endParaRPr sz="10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Chevron 13"/>
          <p:cNvSpPr/>
          <p:nvPr/>
        </p:nvSpPr>
        <p:spPr>
          <a:xfrm>
            <a:off x="2715768" y="3264408"/>
            <a:ext cx="192024" cy="329184"/>
          </a:xfrm>
          <a:prstGeom prst="chevron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26080" y="2194560"/>
            <a:ext cx="1965960" cy="246888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0" y="2194560"/>
            <a:ext cx="1965960" cy="128016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5012" y="2542032"/>
            <a:ext cx="768096" cy="768096"/>
          </a:xfrm>
          <a:prstGeom prst="ellipse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35808" y="3429000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零样本推理</a:t>
            </a:r>
            <a:endParaRPr sz="14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54096" y="3886200"/>
            <a:ext cx="170992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跑通 3 秒极速克隆</a:t>
            </a:r>
            <a:endParaRPr sz="10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test_model_12hz_base.py</a:t>
            </a:r>
            <a:endParaRPr sz="10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Chevron 19"/>
          <p:cNvSpPr/>
          <p:nvPr/>
        </p:nvSpPr>
        <p:spPr>
          <a:xfrm>
            <a:off x="4910328" y="3264408"/>
            <a:ext cx="192024" cy="329184"/>
          </a:xfrm>
          <a:prstGeom prst="chevron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20640" y="2194560"/>
            <a:ext cx="1965960" cy="246888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20640" y="2194560"/>
            <a:ext cx="1965960" cy="128016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19572" y="2542032"/>
            <a:ext cx="768096" cy="768096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30368" y="3429000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数据采集预处理</a:t>
            </a:r>
            <a:endParaRPr sz="14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48656" y="3886200"/>
            <a:ext cx="170992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录 20~100 条语音 → JSONL</a:t>
            </a:r>
            <a:endParaRPr sz="10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prepare_data.py 提取 audio_codes</a:t>
            </a:r>
            <a:endParaRPr sz="10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Chevron 25"/>
          <p:cNvSpPr/>
          <p:nvPr/>
        </p:nvSpPr>
        <p:spPr>
          <a:xfrm>
            <a:off x="7104888" y="3264408"/>
            <a:ext cx="192024" cy="329184"/>
          </a:xfrm>
          <a:prstGeom prst="chevron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0" y="2194560"/>
            <a:ext cx="1965960" cy="246888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2194560"/>
            <a:ext cx="1965960" cy="128016"/>
          </a:xfrm>
          <a:prstGeom prst="rect">
            <a:avLst/>
          </a:prstGeom>
          <a:solidFill>
            <a:srgbClr val="7A5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14132" y="2542032"/>
            <a:ext cx="768096" cy="768096"/>
          </a:xfrm>
          <a:prstGeom prst="ellipse">
            <a:avLst/>
          </a:prstGeom>
          <a:solidFill>
            <a:srgbClr val="7A5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24928" y="3429000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单说话人 SFT 微调</a:t>
            </a:r>
            <a:endParaRPr sz="14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43216" y="3886200"/>
            <a:ext cx="170992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sft_12hz.py 训练</a:t>
            </a:r>
            <a:endParaRPr sz="10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监控 loss，定位过拟合拐点</a:t>
            </a:r>
            <a:endParaRPr sz="10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Chevron 31"/>
          <p:cNvSpPr/>
          <p:nvPr/>
        </p:nvSpPr>
        <p:spPr>
          <a:xfrm>
            <a:off x="9299448" y="3264408"/>
            <a:ext cx="192024" cy="329184"/>
          </a:xfrm>
          <a:prstGeom prst="chevron">
            <a:avLst/>
          </a:prstGeom>
          <a:solidFill>
            <a:srgbClr val="7A5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509760" y="2194560"/>
            <a:ext cx="1965960" cy="246888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9760" y="2194560"/>
            <a:ext cx="1965960" cy="128016"/>
          </a:xfrm>
          <a:prstGeom prst="rect">
            <a:avLst/>
          </a:prstGeom>
          <a:solidFill>
            <a:srgbClr val="2A9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08692" y="2542032"/>
            <a:ext cx="768096" cy="768096"/>
          </a:xfrm>
          <a:prstGeom prst="ellipse">
            <a:avLst/>
          </a:prstGeom>
          <a:solidFill>
            <a:srgbClr val="2A9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619488" y="3429000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评测对比</a:t>
            </a:r>
            <a:endParaRPr sz="14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637776" y="3886200"/>
            <a:ext cx="170992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微调 vs zero-shot 基线</a:t>
            </a:r>
            <a:endParaRPr sz="10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SIM / CER / MOS 量化增益</a:t>
            </a:r>
            <a:endParaRPr sz="10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31520" y="5212080"/>
            <a:ext cx="10744200" cy="8686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349240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核心对照  </a:t>
            </a: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以 zero-shot 声音复刻（1.7B-Base 的 3 秒克隆，不训练）为基线，量化 SFT 微调在音色相似度与稳定性上的增益。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100584" cy="658368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TIMELINE</a:t>
            </a:r>
            <a:endParaRPr sz="12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76656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实施时间规划</a:t>
            </a:r>
            <a:endParaRPr sz="26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98480" y="4572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04 / 07</a:t>
            </a:r>
            <a:endParaRPr sz="1200" b="1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1298448"/>
            <a:ext cx="10744200" cy="9525"/>
          </a:xfrm>
          <a:prstGeom prst="rect">
            <a:avLst/>
          </a:prstGeom>
          <a:solidFill>
            <a:srgbClr val="D5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线下开营后连续 2 周线上开发，结营答辩前 1 天提交全部成果（代码 + 报告 + 答辩 PPT + 演示视频）</a:t>
            </a:r>
            <a:endParaRPr sz="13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1520" y="2148840"/>
            <a:ext cx="10744200" cy="54864"/>
          </a:xfrm>
          <a:prstGeom prst="rect">
            <a:avLst/>
          </a:prstGeom>
          <a:solidFill>
            <a:srgbClr val="D5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947672"/>
            <a:ext cx="457200" cy="457200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5230368" cy="324612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514600"/>
            <a:ext cx="5230368" cy="658368"/>
          </a:xfrm>
          <a:prstGeom prst="roundRect">
            <a:avLst>
              <a:gd name="adj" fmla="val 6000"/>
            </a:avLst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587752"/>
            <a:ext cx="34015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第一周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560" y="2898648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F0FB"/>
                </a:solidFill>
                <a:latin typeface="微软雅黑" panose="020B0503020204020204" charset="-122"/>
                <a:ea typeface="微软雅黑" panose="020B0503020204020204" charset="-122"/>
              </a:rPr>
              <a:t>环境搭建与基线复现</a:t>
            </a:r>
            <a:endParaRPr sz="1200" b="0">
              <a:solidFill>
                <a:srgbClr val="E8F0F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7280" y="3465576"/>
            <a:ext cx="118872" cy="118872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83280"/>
            <a:ext cx="43159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跑通环境部署，Qwen3-TTS 依赖安装</a:t>
            </a:r>
            <a:endParaRPr sz="11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97280" y="3941064"/>
            <a:ext cx="118872" cy="118872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858768"/>
            <a:ext cx="43159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复现零样本推理（3 秒极速克隆）</a:t>
            </a:r>
            <a:endParaRPr sz="11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97280" y="4416552"/>
            <a:ext cx="118872" cy="118872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334256"/>
            <a:ext cx="43159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个人语音采集（20~100 条）与 JSONL 预处理</a:t>
            </a:r>
            <a:endParaRPr sz="11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97280" y="4892040"/>
            <a:ext cx="118872" cy="118872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809744"/>
            <a:ext cx="43159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启动单说话人 SFT 微调训练</a:t>
            </a:r>
            <a:endParaRPr sz="11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097280" y="5138928"/>
            <a:ext cx="4498848" cy="45720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5193792"/>
            <a:ext cx="42245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阶段验收  </a:t>
            </a:r>
            <a:r>
              <a:rPr sz="10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环境配置文档 + 基线跑通，微调训练流程无阻断</a:t>
            </a:r>
            <a:endParaRPr sz="10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36792" y="1947672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245352" y="2514600"/>
            <a:ext cx="5230368" cy="324612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45352" y="2514600"/>
            <a:ext cx="5230368" cy="658368"/>
          </a:xfrm>
          <a:prstGeom prst="roundRect">
            <a:avLst>
              <a:gd name="adj" fmla="val 6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2587752"/>
            <a:ext cx="34015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第二周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65392" y="2898648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F0FB"/>
                </a:solidFill>
                <a:latin typeface="微软雅黑" panose="020B0503020204020204" charset="-122"/>
                <a:ea typeface="微软雅黑" panose="020B0503020204020204" charset="-122"/>
              </a:rPr>
              <a:t>优化消融与成果沉淀</a:t>
            </a:r>
            <a:endParaRPr sz="1200" b="0">
              <a:solidFill>
                <a:srgbClr val="E8F0F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611112" y="3465576"/>
            <a:ext cx="118872" cy="11887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5432" y="3383280"/>
            <a:ext cx="43159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完成 SFT 微调，对比 zero-shot 基线</a:t>
            </a:r>
            <a:endParaRPr sz="11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611112" y="3941064"/>
            <a:ext cx="118872" cy="11887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85432" y="3858768"/>
            <a:ext cx="43159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开展 ≥1 项改进的消融实验（数据/超参/推理）</a:t>
            </a:r>
            <a:endParaRPr sz="11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611112" y="4416552"/>
            <a:ext cx="118872" cy="11887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5432" y="4334256"/>
            <a:ext cx="43159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搭建 SIM/CER/MOS 评测流水线并出分析</a:t>
            </a:r>
            <a:endParaRPr sz="11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611112" y="4892040"/>
            <a:ext cx="118872" cy="11887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85432" y="4809744"/>
            <a:ext cx="43159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整理代码工程 + 技术报告 + 答辩 PPT + demo 视频</a:t>
            </a:r>
            <a:endParaRPr sz="11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611112" y="5138928"/>
            <a:ext cx="4498848" cy="45720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93992" y="5193792"/>
            <a:ext cx="42245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28C28"/>
                </a:solidFill>
                <a:latin typeface="微软雅黑" panose="020B0503020204020204" charset="-122"/>
                <a:ea typeface="微软雅黑" panose="020B0503020204020204" charset="-122"/>
              </a:rPr>
              <a:t>阶段验收  </a:t>
            </a:r>
            <a:r>
              <a:rPr sz="10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指标稳定提升或给出靠谱分析，答辩材料齐备</a:t>
            </a:r>
            <a:endParaRPr sz="10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31520" y="5989320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6062472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3B5B1"/>
                </a:solidFill>
                <a:latin typeface="微软雅黑" panose="020B0503020204020204" charset="-122"/>
                <a:ea typeface="微软雅黑" panose="020B0503020204020204" charset="-122"/>
              </a:rPr>
              <a:t>关键节点  </a:t>
            </a:r>
            <a:r>
              <a:rPr sz="1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开题 → 方案设计 → 模型训练 → 成果提交（答辩前 1 天） → 结营答辩（≤15 分钟，鼓励现场播放微调前后音色 demo）</a:t>
            </a:r>
            <a:endParaRPr sz="11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100584" cy="658368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DATA &amp; OPTIMIZATION</a:t>
            </a:r>
            <a:endParaRPr sz="12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76656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数据采集要点 与 优化方向</a:t>
            </a:r>
            <a:endParaRPr sz="26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98480" y="4572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05 / 07</a:t>
            </a:r>
            <a:endParaRPr sz="1200" b="1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1298448"/>
            <a:ext cx="10744200" cy="9525"/>
          </a:xfrm>
          <a:prstGeom prst="rect">
            <a:avLst/>
          </a:prstGeom>
          <a:solidFill>
            <a:srgbClr val="D5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30368" cy="466344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5230368" cy="548640"/>
          </a:xfrm>
          <a:prstGeom prst="roundRect">
            <a:avLst>
              <a:gd name="adj" fmla="val 6000"/>
            </a:avLst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73352"/>
            <a:ext cx="46817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数据采集要点（课题核心环节）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24128" y="2441448"/>
            <a:ext cx="128016" cy="128016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8448" y="2377440"/>
            <a:ext cx="44074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录音规模   </a:t>
            </a:r>
            <a:r>
              <a:rPr sz="11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每人 20~100 条语句，约 10~30 分钟净语音</a:t>
            </a:r>
            <a:endParaRPr sz="11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24128" y="3227832"/>
            <a:ext cx="128016" cy="128016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" y="3163824"/>
            <a:ext cx="44074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文本覆盖   </a:t>
            </a:r>
            <a:r>
              <a:rPr sz="11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常用字 / 多音字、不同句长、陈述 / 疑问 / 感叹</a:t>
            </a:r>
            <a:endParaRPr sz="11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24128" y="4014216"/>
            <a:ext cx="128016" cy="128016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3950208"/>
            <a:ext cx="44074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录音规范   </a:t>
            </a:r>
            <a:r>
              <a:rPr sz="11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安静环境、单麦、24kHz 单声道 wav，避免爆音长静音</a:t>
            </a:r>
            <a:endParaRPr sz="11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24128" y="4800600"/>
            <a:ext cx="128016" cy="128016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8448" y="4736592"/>
            <a:ext cx="44074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ref_audio   </a:t>
            </a:r>
            <a:r>
              <a:rPr sz="11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强烈建议全数据集统一同一条，提升音色一致性</a:t>
            </a:r>
            <a:endParaRPr sz="11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24128" y="5586984"/>
            <a:ext cx="128016" cy="128016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98448" y="5522976"/>
            <a:ext cx="44074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严格对齐   </a:t>
            </a:r>
            <a:r>
              <a:rPr sz="11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文本-音频逐句核对（ASR 辅助+人工），跑偏头号原因</a:t>
            </a:r>
            <a:endParaRPr sz="11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36208" y="1600200"/>
            <a:ext cx="5230368" cy="466344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36208" y="1600200"/>
            <a:ext cx="5230368" cy="548640"/>
          </a:xfrm>
          <a:prstGeom prst="roundRect">
            <a:avLst>
              <a:gd name="adj" fmla="val 6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1673352"/>
            <a:ext cx="46817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优化方向速览（任选其一做消融）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528816" y="2377440"/>
            <a:ext cx="365760" cy="365760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40880" y="2359152"/>
            <a:ext cx="41788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数据质量与增强</a:t>
            </a:r>
            <a:endParaRPr sz="12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静音裁剪 · 响度归一 · 去噪去混响 · 数据量-质量权衡</a:t>
            </a:r>
            <a:endParaRPr sz="10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6528816" y="3163824"/>
            <a:ext cx="365760" cy="365760"/>
          </a:xfrm>
          <a:prstGeom prst="ellipse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40880" y="3145536"/>
            <a:ext cx="41788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训练超参与策略</a:t>
            </a:r>
            <a:endParaRPr sz="12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学习率 / epoch / batch 调优 · LoRA 高效微调（1%~10% 参数）</a:t>
            </a:r>
            <a:endParaRPr sz="10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528816" y="3950208"/>
            <a:ext cx="365760" cy="3657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40880" y="3931920"/>
            <a:ext cx="41788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推理采样与控制</a:t>
            </a:r>
            <a:endParaRPr sz="12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top_p / temperature 调优 · 参考音频选择策略</a:t>
            </a:r>
            <a:endParaRPr sz="10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528816" y="4736592"/>
            <a:ext cx="365760" cy="365760"/>
          </a:xfrm>
          <a:prstGeom prst="ellipse">
            <a:avLst/>
          </a:prstGeom>
          <a:solidFill>
            <a:srgbClr val="7A5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40880" y="4718304"/>
            <a:ext cx="41788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评测体系搭建</a:t>
            </a:r>
            <a:endParaRPr sz="12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客观 SIM + CER · 主观 MOS / ABX 听辨</a:t>
            </a:r>
            <a:endParaRPr sz="10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6528816" y="5522976"/>
            <a:ext cx="365760" cy="365760"/>
          </a:xfrm>
          <a:prstGeom prst="ellipse">
            <a:avLst/>
          </a:prstGeom>
          <a:solidFill>
            <a:srgbClr val="2A9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040880" y="5504688"/>
            <a:ext cx="4178808" cy="397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推理加速部署</a:t>
            </a:r>
            <a:endParaRPr sz="12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FlashAttn-2 · bf16 · KV Cache · 量化导出</a:t>
            </a:r>
            <a:endParaRPr sz="10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100584" cy="658368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EVALUATION</a:t>
            </a:r>
            <a:endParaRPr sz="12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76656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评测与对标</a:t>
            </a:r>
            <a:endParaRPr sz="26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98480" y="4572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06 / 07</a:t>
            </a:r>
            <a:endParaRPr sz="1200" b="1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1298448"/>
            <a:ext cx="10744200" cy="9525"/>
          </a:xfrm>
          <a:prstGeom prst="rect">
            <a:avLst/>
          </a:prstGeom>
          <a:solidFill>
            <a:srgbClr val="D5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10744200" cy="77724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64208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3B5B1"/>
                </a:solidFill>
                <a:latin typeface="微软雅黑" panose="020B0503020204020204" charset="-122"/>
                <a:ea typeface="微软雅黑" panose="020B0503020204020204" charset="-122"/>
              </a:rPr>
              <a:t>对照基线  </a:t>
            </a: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zero-shot 声音复刻 —— 直接用 Qwen3-TTS-1.7B-Base 的 3 秒极速克隆，不做任何训练，作为「未经微调」对照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3429000" cy="128016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SIM</a:t>
            </a:r>
            <a:endParaRPr sz="30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音色相似度</a:t>
            </a:r>
            <a:endParaRPr sz="14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说话人验证模型</a:t>
            </a:r>
            <a:endParaRPr sz="10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（ERes2Net / WavLM-SV）</a:t>
            </a:r>
            <a:endParaRPr sz="10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计算合成音与真人音余弦相似度</a:t>
            </a:r>
            <a:endParaRPr sz="10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89120" y="265176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2651760"/>
            <a:ext cx="3429000" cy="128016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971800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3B5B1"/>
                </a:solidFill>
                <a:latin typeface="微软雅黑" panose="020B0503020204020204" charset="-122"/>
                <a:ea typeface="微软雅黑" panose="020B0503020204020204" charset="-122"/>
              </a:rPr>
              <a:t>CER / WER</a:t>
            </a:r>
            <a:endParaRPr sz="3000" b="1">
              <a:solidFill>
                <a:srgbClr val="13B5B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89120" y="356616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内容准确率</a:t>
            </a:r>
            <a:endParaRPr sz="14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63440" y="4023360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ASR 模型转写合成音</a:t>
            </a:r>
            <a:endParaRPr sz="10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（Paraformer / Whisper）</a:t>
            </a:r>
            <a:endParaRPr sz="10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计算字 / 词错误率</a:t>
            </a:r>
            <a:endParaRPr sz="10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46720" y="265176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2651760"/>
            <a:ext cx="3429000" cy="128016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971800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28C28"/>
                </a:solidFill>
                <a:latin typeface="微软雅黑" panose="020B0503020204020204" charset="-122"/>
                <a:ea typeface="微软雅黑" panose="020B0503020204020204" charset="-122"/>
              </a:rPr>
              <a:t>MOS</a:t>
            </a:r>
            <a:endParaRPr sz="3000" b="1">
              <a:solidFill>
                <a:srgbClr val="F28C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46720" y="356616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主观自然度</a:t>
            </a:r>
            <a:endParaRPr sz="14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21040" y="4023360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小范围人工打分</a:t>
            </a:r>
            <a:endParaRPr sz="10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（自然度 / 相似度 1-5 分）</a:t>
            </a:r>
            <a:endParaRPr sz="10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或 ABX 听辨测试</a:t>
            </a:r>
            <a:endParaRPr sz="10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31520" y="5212080"/>
            <a:ext cx="10744200" cy="8686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349240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可视化配套  </a:t>
            </a: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训练 loss 曲线（定位过拟合拐点） · 频谱图对比（真人 vs 合成） · 不同 epoch checkpoint 效果对比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100584" cy="658368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DELIVERABLES &amp; RESOURCES</a:t>
            </a:r>
            <a:endParaRPr sz="12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76656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验收方式 与 推荐资源</a:t>
            </a:r>
            <a:endParaRPr sz="26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98480" y="4572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07 / 07</a:t>
            </a:r>
            <a:endParaRPr sz="1200" b="1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1298448"/>
            <a:ext cx="10744200" cy="9525"/>
          </a:xfrm>
          <a:prstGeom prst="rect">
            <a:avLst/>
          </a:prstGeom>
          <a:solidFill>
            <a:srgbClr val="D5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30368" cy="466344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5230368" cy="548640"/>
          </a:xfrm>
          <a:prstGeom prst="roundRect">
            <a:avLst>
              <a:gd name="adj" fmla="val 6000"/>
            </a:avLst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73352"/>
            <a:ext cx="46817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验收方式（总分 100 + 创新加分 ≤20）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24128" y="2377440"/>
            <a:ext cx="914400" cy="868680"/>
          </a:xfrm>
          <a:prstGeom prst="roundRect">
            <a:avLst>
              <a:gd name="adj" fmla="val 6000"/>
            </a:avLst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48716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30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" y="294436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sz="100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03120" y="2414016"/>
            <a:ext cx="35844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代码工程</a:t>
            </a:r>
            <a:endParaRPr sz="14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03120" y="2788920"/>
            <a:ext cx="3538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数据/训练/推理/评测/可视化代码 + log + README</a:t>
            </a:r>
            <a:endParaRPr sz="10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24128" y="3401568"/>
            <a:ext cx="914400" cy="868680"/>
          </a:xfrm>
          <a:prstGeom prst="roundRect">
            <a:avLst>
              <a:gd name="adj" fmla="val 6000"/>
            </a:avLst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511296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40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24128" y="39684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sz="100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03120" y="3438144"/>
            <a:ext cx="35844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技术报告</a:t>
            </a:r>
            <a:endParaRPr sz="14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03120" y="3813048"/>
            <a:ext cx="3538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原理详解 + 数据方案 + 改进 + 消融 + 可视化分析</a:t>
            </a:r>
            <a:endParaRPr sz="10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24128" y="4425696"/>
            <a:ext cx="914400" cy="868680"/>
          </a:xfrm>
          <a:prstGeom prst="roundRect">
            <a:avLst>
              <a:gd name="adj" fmla="val 6000"/>
            </a:avLst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535424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30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24128" y="499262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2F6FC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sz="1000" b="0">
              <a:solidFill>
                <a:srgbClr val="F2F6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03120" y="4462272"/>
            <a:ext cx="35844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</a:rPr>
              <a:t>小组答辩</a:t>
            </a:r>
            <a:endParaRPr sz="14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03120" y="4837176"/>
            <a:ext cx="3538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≤15 分钟（汇报 10 + 提问 5），鼓励现场 demo</a:t>
            </a:r>
            <a:endParaRPr sz="10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24128" y="5449824"/>
            <a:ext cx="4645152" cy="59436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522976"/>
            <a:ext cx="43159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28C28"/>
                </a:solidFill>
                <a:latin typeface="微软雅黑" panose="020B0503020204020204" charset="-122"/>
                <a:ea typeface="微软雅黑" panose="020B0503020204020204" charset="-122"/>
              </a:rPr>
              <a:t>创新加分 ≤20  </a:t>
            </a:r>
            <a:r>
              <a:rPr sz="105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有效改进 / 评测流水线 / Web Demo / 多语种情感</a:t>
            </a:r>
            <a:endParaRPr sz="105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36208" y="1600200"/>
            <a:ext cx="5230368" cy="466344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36208" y="1600200"/>
            <a:ext cx="5230368" cy="548640"/>
          </a:xfrm>
          <a:prstGeom prst="roundRect">
            <a:avLst>
              <a:gd name="adj" fmla="val 6000"/>
            </a:avLst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1673352"/>
            <a:ext cx="46817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推荐资源配置（1~3 人小组）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28816" y="2377440"/>
            <a:ext cx="468172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最低配置</a:t>
            </a:r>
            <a:endParaRPr sz="13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显卡  3~4 张 RTX 3090/4090（24GB）</a:t>
            </a:r>
            <a:endParaRPr sz="11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CPU 16 核 · 内存 64GB · 硬盘 200GB</a:t>
            </a:r>
            <a:endParaRPr sz="11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支持 3 组 SFT 微调实验并行</a:t>
            </a:r>
            <a:endParaRPr sz="11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28816" y="3749040"/>
            <a:ext cx="468172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8C28"/>
                </a:solidFill>
                <a:latin typeface="微软雅黑" panose="020B0503020204020204" charset="-122"/>
                <a:ea typeface="微软雅黑" panose="020B0503020204020204" charset="-122"/>
              </a:rPr>
              <a:t>推荐配置</a:t>
            </a:r>
            <a:endParaRPr sz="1300" b="1">
              <a:solidFill>
                <a:srgbClr val="F28C2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显卡  3~6 张 A100/A800，或 8 张 3090/4090</a:t>
            </a:r>
            <a:endParaRPr sz="11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CPU 32 核 · 内存 128GB · 硬盘 400GB</a:t>
            </a:r>
            <a:endParaRPr sz="11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674"/>
                </a:solidFill>
                <a:latin typeface="微软雅黑" panose="020B0503020204020204" charset="-122"/>
                <a:ea typeface="微软雅黑" panose="020B0503020204020204" charset="-122"/>
              </a:rPr>
              <a:t>支持多组对照实验并行 + 流式压测</a:t>
            </a:r>
            <a:endParaRPr sz="1100" b="0">
              <a:solidFill>
                <a:srgbClr val="5B66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528816" y="5120640"/>
            <a:ext cx="4645152" cy="9144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93408" y="5230368"/>
            <a:ext cx="4315968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3B5B1"/>
                </a:solidFill>
                <a:latin typeface="微软雅黑" panose="020B0503020204020204" charset="-122"/>
                <a:ea typeface="微软雅黑" panose="020B0503020204020204" charset="-122"/>
              </a:rPr>
              <a:t>显存参考</a:t>
            </a:r>
            <a:endParaRPr sz="1200" b="1">
              <a:solidFill>
                <a:srgbClr val="13B5B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全量 SFT 20~40GB · LoRA 12~20GB · 推理 6~10GB</a:t>
            </a:r>
            <a:endParaRPr sz="11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2652</Words>
  <Application>WPS 演示</Application>
  <PresentationFormat>On-screen Show (4:3)</PresentationFormat>
  <Paragraphs>285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yjhu</cp:lastModifiedBy>
  <cp:revision>2</cp:revision>
  <dcterms:created xsi:type="dcterms:W3CDTF">2013-01-27T09:14:00Z</dcterms:created>
  <dcterms:modified xsi:type="dcterms:W3CDTF">2026-07-16T07:58:57Z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WMa49a35107ddd11f180000bbd00000abd">
    <vt:lpwstr>CWMNsMUY0a9AjwTQO0Imp6ygwNbtTLxk2JP644T8I8KtPgeoFVPc9LdJGsC70ZoaX7s8n+FY4sSJNh1h+ykxLauCg==</vt:lpwstr>
  </property>
  <property fmtid="{D5CDD505-2E9C-101B-9397-08002B2CF9AE}" pid="3" name="ICV">
    <vt:lpwstr>03E01D03ABC6458DBE27EBFDB8629E4F</vt:lpwstr>
  </property>
  <property fmtid="{D5CDD505-2E9C-101B-9397-08002B2CF9AE}" pid="4" name="KSOProductBuildVer">
    <vt:lpwstr>2052-11.8.2.12187</vt:lpwstr>
  </property>
</Properties>
</file>